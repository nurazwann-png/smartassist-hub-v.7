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303520" cy="530352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548640"/>
            <a:ext cx="2743200" cy="27432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120640"/>
            <a:ext cx="3108960" cy="310896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C9A96E"/>
                </a:solidFill>
              </a:defRPr>
            </a:pPr>
            <a:r>
              <a:t>SMARTAssist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8686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1F5F9"/>
                </a:solidFill>
              </a:defRPr>
            </a:pPr>
            <a:r>
              <a:t>ANALISIS DATA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834640"/>
            <a:ext cx="118872" cy="11887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A3B8"/>
                </a:solidFill>
              </a:defRPr>
            </a:pPr>
            <a:r>
              <a:t>Analisis jualan Q2 2025 menunjukkan pertumbuhan positif.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08076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64748B"/>
                </a:solidFill>
              </a:defRPr>
            </a:pPr>
            <a:r>
              <a:t>21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56032"/>
            <a:ext cx="438912" cy="43891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1F5F9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1F5F9"/>
                </a:solidFill>
              </a:defRPr>
            </a:pPr>
            <a:r>
              <a:t>Penemuan Utama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4748B"/>
                </a:solidFill>
              </a:defRPr>
            </a:pPr>
            <a:r>
              <a:t>SMARTAssist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4748B"/>
                </a:solidFill>
              </a:defRPr>
            </a:pPr>
            <a:r>
              <a:t>2 / 7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22960"/>
            <a:ext cx="1133856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" y="978408"/>
            <a:ext cx="310896" cy="3108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9601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1F5F9"/>
                </a:solidFill>
              </a:defRPr>
            </a:pPr>
            <a:r>
              <a:t>Jualan meningkat 23% berbanding suku lepas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1481328"/>
            <a:ext cx="310896" cy="3108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4630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1F5F9"/>
                </a:solidFill>
              </a:defRPr>
            </a:pPr>
            <a:r>
              <a:t>Produk kategori A menyumbang 61% hasil keseluruhan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" y="1984248"/>
            <a:ext cx="310896" cy="3108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9659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1F5F9"/>
                </a:solidFill>
              </a:defRPr>
            </a:pPr>
            <a:r>
              <a:t>Wilayah Utara mencatat pertumbuhan tertinggi pada 34%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" y="2487168"/>
            <a:ext cx="310896" cy="31089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468879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1F5F9"/>
                </a:solidFill>
              </a:defRPr>
            </a:pPr>
            <a:r>
              <a:t>Margin keuntungan bersih meningkat kepada 18.5%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56032"/>
            <a:ext cx="438912" cy="43891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1F5F9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1F5F9"/>
                </a:solidFill>
              </a:defRPr>
            </a:pPr>
            <a:r>
              <a:t>Tafsiran &amp; Analisis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4748B"/>
                </a:solidFill>
              </a:defRPr>
            </a:pPr>
            <a:r>
              <a:t>SMARTAssist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4748B"/>
                </a:solidFill>
              </a:defRPr>
            </a:pPr>
            <a:r>
              <a:t>3 / 7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22960"/>
            <a:ext cx="1133856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8640" y="914400"/>
            <a:ext cx="256032" cy="25603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960120"/>
            <a:ext cx="106070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1F5F9"/>
                </a:solidFill>
              </a:defRPr>
            </a:pPr>
            <a:r>
              <a:t>Secara keseluruhan, prestasi jualan Q2 2025 adalah menggalakkan. Pertumbuhan yang konsisten merentas semua segmen produk menunjukkan strategi pemasaran yang efektif.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56032"/>
            <a:ext cx="438912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1F5F9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1F5F9"/>
                </a:solidFill>
              </a:defRPr>
            </a:pPr>
            <a:r>
              <a:t>Jadual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4748B"/>
                </a:solidFill>
              </a:defRPr>
            </a:pPr>
            <a:r>
              <a:t>SMARTAssist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4748B"/>
                </a:solidFill>
              </a:defRPr>
            </a:pPr>
            <a:r>
              <a:t>4 / 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914400"/>
          <a:ext cx="7680959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19"/>
                <a:gridCol w="2560319"/>
                <a:gridCol w="2560321"/>
              </a:tblGrid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1F5F9"/>
                          </a:solidFill>
                        </a:defRPr>
                      </a:pPr>
                      <a:r>
                        <a:t>Wilayah</a:t>
                      </a:r>
                    </a:p>
                  </a:txBody>
                  <a:tcPr>
                    <a:solidFill>
                      <a:srgbClr val="065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1F5F9"/>
                          </a:solidFill>
                        </a:defRPr>
                      </a:pPr>
                      <a:r>
                        <a:t>Jualan (RM)</a:t>
                      </a:r>
                    </a:p>
                  </a:txBody>
                  <a:tcPr>
                    <a:solidFill>
                      <a:srgbClr val="0652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1F5F9"/>
                          </a:solidFill>
                        </a:defRPr>
                      </a:pPr>
                      <a:r>
                        <a:t>Pertumbuhan (%)</a:t>
                      </a:r>
                    </a:p>
                  </a:txBody>
                  <a:tcPr>
                    <a:solidFill>
                      <a:srgbClr val="0652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1F5F9"/>
                          </a:solidFill>
                        </a:defRPr>
                      </a:pPr>
                      <a:r>
                        <a:t>Utara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1F5F9"/>
                          </a:solidFill>
                        </a:defRPr>
                      </a:pPr>
                      <a:r>
                        <a:t>1,245,000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1F5F9"/>
                          </a:solidFill>
                        </a:defRPr>
                      </a:pPr>
                      <a:r>
                        <a:t>+34%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1F5F9"/>
                          </a:solidFill>
                        </a:defRPr>
                      </a:pPr>
                      <a:r>
                        <a:t>Selatan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1F5F9"/>
                          </a:solidFill>
                        </a:defRPr>
                      </a:pPr>
                      <a:r>
                        <a:t>890,000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1F5F9"/>
                          </a:solidFill>
                        </a:defRPr>
                      </a:pPr>
                      <a:r>
                        <a:t>+8%</a:t>
                      </a:r>
                    </a:p>
                  </a:txBody>
                  <a:tcPr>
                    <a:solidFill>
                      <a:srgbClr val="161E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56032"/>
            <a:ext cx="438912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1F5F9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1F5F9"/>
                </a:solidFill>
              </a:defRPr>
            </a:pPr>
            <a:r>
              <a:t>Cadangan &amp; Tindakan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4748B"/>
                </a:solidFill>
              </a:defRPr>
            </a:pPr>
            <a:r>
              <a:t>SMARTAssist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4748B"/>
                </a:solidFill>
              </a:defRPr>
            </a:pPr>
            <a:r>
              <a:t>5 / 7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22960"/>
            <a:ext cx="11338560" cy="53949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" y="978408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9601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1F5F9"/>
                </a:solidFill>
              </a:defRPr>
            </a:pPr>
            <a:r>
              <a:t>Tingkatkan bajet pemasaran untuk wilayah Selatan sebanyak 15%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1481328"/>
            <a:ext cx="310896" cy="31089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4630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1F5F9"/>
                </a:solidFill>
              </a:defRPr>
            </a:pPr>
            <a:r>
              <a:t>Lanjutkan strategi bundle produk kategori A dan 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56032"/>
            <a:ext cx="438912" cy="43891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1F5F9"/>
                </a:solidFill>
              </a:defRPr>
            </a:pPr>
            <a:r>
              <a:t>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1F5F9"/>
                </a:solidFill>
              </a:defRPr>
            </a:pPr>
            <a:r>
              <a:t>Amaran &amp; Limitasi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46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64748B"/>
                </a:solidFill>
              </a:defRPr>
            </a:pPr>
            <a:r>
              <a:t>SMARTAssist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64748B"/>
                </a:solidFill>
              </a:defRPr>
            </a:pPr>
            <a:r>
              <a:t>6 / 7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22960"/>
            <a:ext cx="11338560" cy="5394960"/>
          </a:xfrm>
          <a:prstGeom prst="rect">
            <a:avLst/>
          </a:prstGeom>
          <a:solidFill>
            <a:srgbClr val="0B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" y="978408"/>
            <a:ext cx="310896" cy="31089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1F5F9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9601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1F5F9"/>
                </a:solidFill>
              </a:defRPr>
            </a:pPr>
            <a:r>
              <a:t>Data tidak merangkumi bulan Jun sepenuhnya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303520" cy="530352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4754880"/>
            <a:ext cx="2743200" cy="274320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 i="0">
                <a:solidFill>
                  <a:srgbClr val="F1F5F9"/>
                </a:solidFill>
              </a:defRPr>
            </a:pPr>
            <a:r>
              <a:t>Terima Kasih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94A3B8"/>
                </a:solidFill>
              </a:defRPr>
            </a:pPr>
            <a:r>
              <a:t>AI assistant, make your work easier.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C9A96E"/>
                </a:solidFill>
              </a:defRPr>
            </a:pPr>
            <a:r>
              <a:t>SMARTAssist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6052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64748B"/>
                </a:solidFill>
              </a:defRPr>
            </a:pPr>
            <a:r>
              <a:t>21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